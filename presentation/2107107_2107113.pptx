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32" y="9832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>
                  <a:alpha val="92000"/>
                </a:srgbClr>
              </a:gs>
              <a:gs pos="100000">
                <a:srgbClr val="1E293B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410" y="1030287"/>
            <a:ext cx="761980" cy="608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50100" y="2011625"/>
            <a:ext cx="5982599" cy="8140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040"/>
              </a:spcAft>
            </a:pPr>
            <a:r>
              <a:rPr sz="6000" b="1" dirty="0">
                <a:solidFill>
                  <a:srgbClr val="FFFFFF"/>
                </a:solidFill>
                <a:latin typeface="Orbitron"/>
              </a:rPr>
              <a:t>Atari Go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2621" y="2941984"/>
            <a:ext cx="3957558" cy="5308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4160"/>
              </a:spcAft>
            </a:pPr>
            <a:r>
              <a:rPr sz="3600" b="0" dirty="0">
                <a:solidFill>
                  <a:srgbClr val="67E8F9"/>
                </a:solidFill>
                <a:latin typeface="Orbitron"/>
              </a:rPr>
              <a:t>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1867" y="3975427"/>
            <a:ext cx="1523961" cy="381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3B82F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53512" y="4407918"/>
            <a:ext cx="2590774" cy="453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080"/>
              </a:spcAft>
            </a:pPr>
            <a:r>
              <a:rPr sz="3600" b="0" dirty="0">
                <a:solidFill>
                  <a:srgbClr val="E5E7EB"/>
                </a:solidFill>
                <a:latin typeface="Inter"/>
              </a:rPr>
              <a:t>Presented by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852" y="5145987"/>
            <a:ext cx="405737" cy="289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33300" y="5100633"/>
            <a:ext cx="1971502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  <a:latin typeface="Inter"/>
              </a:rPr>
              <a:t>Ankon</a:t>
            </a:r>
            <a:r>
              <a:rPr sz="3200" b="1" dirty="0">
                <a:solidFill>
                  <a:srgbClr val="FFFFFF"/>
                </a:solidFill>
                <a:latin typeface="Inter"/>
              </a:rPr>
              <a:t> 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3803" y="5599000"/>
            <a:ext cx="1850250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D1D5DB"/>
                </a:solidFill>
                <a:latin typeface="Inter"/>
              </a:rPr>
              <a:t>Roll: 2107113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6875" y="5191617"/>
            <a:ext cx="354857" cy="2534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65153" y="5100633"/>
            <a:ext cx="817788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Inter"/>
              </a:rPr>
              <a:t>Albi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684" y="5599000"/>
            <a:ext cx="1850250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D1D5DB"/>
                </a:solidFill>
                <a:latin typeface="Inter"/>
              </a:rPr>
              <a:t>Roll: 2107107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5912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482679"/>
            <a:ext cx="3804760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90" y="1352549"/>
            <a:ext cx="5333866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703" y="1847849"/>
            <a:ext cx="457188" cy="366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82852" y="1803780"/>
            <a:ext cx="2835969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Three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2852" y="2265202"/>
            <a:ext cx="4194995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Different approaches to Atari Go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5168" y="296879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82852" y="2870581"/>
            <a:ext cx="3433697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Game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2852" y="3332003"/>
            <a:ext cx="2875724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Atari Go capture rules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5168" y="3996489"/>
            <a:ext cx="457188" cy="4271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2852" y="3937380"/>
            <a:ext cx="4474238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Performance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2852" y="4398802"/>
            <a:ext cx="4941802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Minimax vs Monte Carlo vs Neural Net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5168" y="5156534"/>
            <a:ext cx="457188" cy="2406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2852" y="5004181"/>
            <a:ext cx="3028714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Competitive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2852" y="5465603"/>
            <a:ext cx="4546629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Agents compete against each other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Inter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C8EB02-4E70-2435-46D0-FD97AB385729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522008"/>
            <a:ext cx="3166251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Atari Go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042" y="1883944"/>
            <a:ext cx="457188" cy="385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725" y="1803780"/>
            <a:ext cx="3873753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Place on Intersections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725" y="2265202"/>
            <a:ext cx="3094822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Stones on empty points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9042" y="3004886"/>
            <a:ext cx="457188" cy="27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725" y="2870581"/>
            <a:ext cx="2773901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Alternate 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725" y="3332003"/>
            <a:ext cx="2753190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Black and White play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9042" y="4035592"/>
            <a:ext cx="457188" cy="348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725" y="3937380"/>
            <a:ext cx="1608069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Liberties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725" y="4398802"/>
            <a:ext cx="2936253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Empty adjacent points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9042" y="5171573"/>
            <a:ext cx="457188" cy="210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725" y="5004181"/>
            <a:ext cx="3285643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Connected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725" y="5465603"/>
            <a:ext cx="2822504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Stones share liberties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9CA3AF"/>
                </a:solidFill>
                <a:latin typeface="Inter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801B9D-16DD-94F2-6F70-92780ED2B4F6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551502"/>
            <a:ext cx="4337982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Winning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533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5216" y="1637001"/>
            <a:ext cx="2774414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First to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5216" y="2112803"/>
            <a:ext cx="3550972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Win by capturing any stone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7533" y="29116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5216" y="2818101"/>
            <a:ext cx="330263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Immediate Victory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5216" y="3293902"/>
            <a:ext cx="2477025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Games end rapidly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7533" y="4073692"/>
            <a:ext cx="457188" cy="348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5216" y="3980150"/>
            <a:ext cx="306763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Focus on Combat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5216" y="4455952"/>
            <a:ext cx="3327449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Aggressive play rewarded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7533" y="5236744"/>
            <a:ext cx="457188" cy="385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5216" y="5161251"/>
            <a:ext cx="220194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No Territory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5216" y="5637053"/>
            <a:ext cx="2808589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Territory not relevant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8288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9CA3AF"/>
                </a:solidFill>
                <a:latin typeface="Inter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A00AE-60F8-2E0B-431D-481507611A43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581004"/>
            <a:ext cx="3030766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Agent: Ankon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017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2700" y="1637001"/>
            <a:ext cx="164916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Minimax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700" y="2112803"/>
            <a:ext cx="2419830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Explore game tree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5017" y="29116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2700" y="2818101"/>
            <a:ext cx="226933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Monte Carlo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700" y="3293902"/>
            <a:ext cx="3761671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Random sampling evaluation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5017" y="4082715"/>
            <a:ext cx="457188" cy="3308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2700" y="3980150"/>
            <a:ext cx="3023328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Hybrid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700" y="4455952"/>
            <a:ext cx="2618602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Combines strengths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5017" y="5308934"/>
            <a:ext cx="457188" cy="2406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700" y="5161251"/>
            <a:ext cx="2265877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Deep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700" y="5637053"/>
            <a:ext cx="3225755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Optimal decision 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Inter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A594CD-4125-7A3C-E389-C3AE309B5516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581002"/>
            <a:ext cx="2500300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Agent: Albi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7365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25048" y="1637001"/>
            <a:ext cx="226933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Monte Carlo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5048" y="2112803"/>
            <a:ext cx="2692019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Random simulations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7365" y="29116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25048" y="2818101"/>
            <a:ext cx="164916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Minimax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5048" y="3293902"/>
            <a:ext cx="2178610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Tree exploration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7365" y="4109786"/>
            <a:ext cx="457188" cy="2767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25048" y="3980150"/>
            <a:ext cx="2756011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Different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5048" y="4455952"/>
            <a:ext cx="3221010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MC + Minimax sequence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7365" y="5271335"/>
            <a:ext cx="457188" cy="3158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25048" y="5161251"/>
            <a:ext cx="3173433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Adaptive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5048" y="5637053"/>
            <a:ext cx="3308855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Dynamic decision 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Inter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4C1CF2-8875-7D70-A6DC-85BA0C59B4AC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630164"/>
            <a:ext cx="5052473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Agent: Neural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6864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4547" y="1637001"/>
            <a:ext cx="259391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4547" y="2112803"/>
            <a:ext cx="3086038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Learns from experience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6864" y="2899610"/>
            <a:ext cx="457188" cy="3729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54547" y="2818101"/>
            <a:ext cx="269708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No Search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4547" y="3293902"/>
            <a:ext cx="3156826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Pattern recognition only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6864" y="4055644"/>
            <a:ext cx="457188" cy="3850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54547" y="3980150"/>
            <a:ext cx="337297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Convolutional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547" y="4455952"/>
            <a:ext cx="2768002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Trained on Go games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6864" y="5215689"/>
            <a:ext cx="457188" cy="4271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54547" y="5161251"/>
            <a:ext cx="267406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Value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547" y="5637053"/>
            <a:ext cx="2527615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Position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9CA3AF"/>
                </a:solidFill>
                <a:latin typeface="Inter"/>
              </a:rPr>
              <a:t>7</a:t>
            </a:r>
            <a:endParaRPr sz="160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0F6CF4-8F50-6B8A-03D8-98E05FB45F72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90515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</a:rPr>
              <a:t>Agent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89" y="1840344"/>
            <a:ext cx="5671862" cy="3922281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62356" y="1816511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653" y="1962244"/>
            <a:ext cx="228594" cy="165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93283" y="1856261"/>
            <a:ext cx="1242200" cy="4403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Ankon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3283" y="2236675"/>
            <a:ext cx="5151538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Minimax + Monte Carlo • Explicit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2356" y="2749962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653" y="2895694"/>
            <a:ext cx="228594" cy="165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93283" y="2789712"/>
            <a:ext cx="817788" cy="4403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Albi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3283" y="3170124"/>
            <a:ext cx="5753947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Monte Carlo + Minimax • Different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62356" y="3683412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653" y="3823429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93283" y="3723162"/>
            <a:ext cx="2862387" cy="4403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283" y="4103574"/>
            <a:ext cx="4650825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Deep Learning • Pattern recognition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2356" y="4705350"/>
            <a:ext cx="5856144" cy="1057275"/>
          </a:xfrm>
          <a:prstGeom prst="roundRect">
            <a:avLst>
              <a:gd name="adj" fmla="val 14414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2851" y="4852347"/>
            <a:ext cx="285742" cy="2332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2891" y="4842441"/>
            <a:ext cx="1860894" cy="42114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891" y="5237050"/>
            <a:ext cx="5265609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Search depth vs Learning vs Randomness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Inter"/>
              </a:rPr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DEAF5-3A8A-74D8-CAA7-ED9CB891AD5F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492511"/>
            <a:ext cx="6437981" cy="6213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F2937"/>
                </a:solidFill>
                <a:latin typeface="Orbitron"/>
              </a:rPr>
              <a:t>Experimental Setup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90" y="1262271"/>
            <a:ext cx="4280462" cy="5043278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5272" y="1520822"/>
            <a:ext cx="342891" cy="21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00559" y="1441831"/>
            <a:ext cx="3368358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Agent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559" y="1903253"/>
            <a:ext cx="4316053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All agents play against each other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272" y="2561018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559" y="2508631"/>
            <a:ext cx="3190040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Win Rate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559" y="2970053"/>
            <a:ext cx="5474063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Performance measured by capture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5272" y="3619499"/>
            <a:ext cx="6629234" cy="1485900"/>
          </a:xfrm>
          <a:prstGeom prst="roundRect">
            <a:avLst>
              <a:gd name="adj" fmla="val 10256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5767" y="3841899"/>
            <a:ext cx="285742" cy="180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95807" y="3761261"/>
            <a:ext cx="3285771" cy="4403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Search vs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2956" y="4217874"/>
            <a:ext cx="4100418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E7490"/>
                </a:solidFill>
                <a:latin typeface="Inter"/>
              </a:rPr>
              <a:t>Ankon/Albi:</a:t>
            </a:r>
            <a:r>
              <a:rPr sz="2400" b="0" dirty="0">
                <a:solidFill>
                  <a:srgbClr val="4B5563"/>
                </a:solidFill>
                <a:latin typeface="Inter"/>
              </a:rPr>
              <a:t> Explicit tree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2956" y="4579825"/>
            <a:ext cx="3818418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2400" b="1" dirty="0">
                <a:solidFill>
                  <a:srgbClr val="0E7490"/>
                </a:solidFill>
                <a:latin typeface="Inter"/>
              </a:rPr>
              <a:t>Neural Net:</a:t>
            </a:r>
            <a:r>
              <a:rPr sz="2400" b="0" dirty="0">
                <a:solidFill>
                  <a:srgbClr val="4B5563"/>
                </a:solidFill>
                <a:latin typeface="Inter"/>
              </a:rPr>
              <a:t> Learned patterns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5272" y="5424430"/>
            <a:ext cx="342891" cy="2542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00559" y="5366130"/>
            <a:ext cx="2262094" cy="4596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 dirty="0">
                <a:solidFill>
                  <a:srgbClr val="1F2937"/>
                </a:solidFill>
                <a:latin typeface="Inter"/>
              </a:rPr>
              <a:t>Key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559" y="5827552"/>
            <a:ext cx="4647554" cy="3940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4B5563"/>
                </a:solidFill>
                <a:latin typeface="Inter"/>
              </a:rPr>
              <a:t>Each approach has unique 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7813" y="6307887"/>
            <a:ext cx="25192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Inter"/>
              </a:rPr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1ABD9C-2152-D069-9F3C-1393CCED4863}"/>
              </a:ext>
            </a:extLst>
          </p:cNvPr>
          <p:cNvSpPr txBox="1"/>
          <p:nvPr/>
        </p:nvSpPr>
        <p:spPr>
          <a:xfrm>
            <a:off x="211954" y="6345496"/>
            <a:ext cx="1272717" cy="41216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Inter"/>
              </a:rPr>
              <a:t>28 April 2026</a:t>
            </a:r>
            <a:endParaRPr sz="1600" dirty="0">
              <a:solidFill>
                <a:schemeClr val="bg1">
                  <a:lumMod val="50000"/>
                </a:schemeClr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>
                  <a:alpha val="92000"/>
                </a:srgbClr>
              </a:gs>
              <a:gs pos="100000">
                <a:srgbClr val="1E293B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26315" y="2720572"/>
            <a:ext cx="4539064" cy="10549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7020"/>
              </a:lnSpc>
              <a:spcBef>
                <a:spcPts val="0"/>
              </a:spcBef>
              <a:spcAft>
                <a:spcPts val="1560"/>
              </a:spcAft>
            </a:pPr>
            <a:r>
              <a:rPr sz="8000" b="1" dirty="0">
                <a:solidFill>
                  <a:srgbClr val="FFFFFF"/>
                </a:solidFill>
                <a:latin typeface="Orbitron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8" y="3990974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48043" y="4410074"/>
            <a:ext cx="3695607" cy="990599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4760529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96606" y="4599907"/>
            <a:ext cx="2293768" cy="61093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Orbitron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2090" y="6307887"/>
            <a:ext cx="35612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9CA3AF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279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Orbitron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Tahmid Albi</dc:creator>
  <cp:keywords/>
  <dc:description>generated using python-pptx</dc:description>
  <cp:lastModifiedBy>Ankon Roy</cp:lastModifiedBy>
  <cp:revision>7</cp:revision>
  <dcterms:created xsi:type="dcterms:W3CDTF">2013-01-27T09:14:16Z</dcterms:created>
  <dcterms:modified xsi:type="dcterms:W3CDTF">2026-04-28T01:25:28Z</dcterms:modified>
  <cp:category/>
</cp:coreProperties>
</file>
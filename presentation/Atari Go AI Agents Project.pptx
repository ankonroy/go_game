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E27">
                  <a:alpha val="92000"/>
                </a:srgbClr>
              </a:gs>
              <a:gs pos="100000">
                <a:srgbClr val="1E293B">
                  <a:alpha val="88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14857" y="1000739"/>
            <a:ext cx="761980" cy="608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81250" y="2047874"/>
            <a:ext cx="6238719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1040"/>
              </a:spcAft>
            </a:pPr>
            <a:r>
              <a:rPr sz="3827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Atari Go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1250" y="2962274"/>
            <a:ext cx="623871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4160"/>
              </a:spcAft>
            </a:pPr>
            <a:r>
              <a:rPr sz="1913" b="0">
                <a:solidFill>
                  <a:srgbClr val="67E8F9"/>
                </a:solidFill>
                <a:latin typeface="Orbitron"/>
                <a:rFonts ascii="Orbitron" hAnsi="Orbitron" eastAsia="Orbitron" cs="Orbitron"/>
              </a:rPr>
              <a:t>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3866" y="4029075"/>
            <a:ext cx="1523961" cy="38100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81250" y="4524374"/>
            <a:ext cx="623871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080"/>
              </a:spcAft>
            </a:pPr>
            <a:r>
              <a:rPr sz="1435" b="0">
                <a:solidFill>
                  <a:srgbClr val="E5E7EB"/>
                </a:solidFill>
                <a:latin typeface="Inter"/>
                <a:rFonts ascii="Inter" hAnsi="Inter" eastAsia="Inter" cs="Inter"/>
              </a:rPr>
              <a:t>Presented by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095647" y="5270046"/>
            <a:ext cx="285742" cy="2041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95687" y="5172075"/>
            <a:ext cx="1381090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Ankon Roy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2836" y="5648325"/>
            <a:ext cx="132394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Roll: 2107113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86362" y="5270046"/>
            <a:ext cx="285742" cy="2041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86402" y="5172075"/>
            <a:ext cx="50481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Albi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3551" y="5648325"/>
            <a:ext cx="115249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Inter"/>
                <a:rFonts ascii="Inter" hAnsi="Inter" eastAsia="Inter" cs="Inter"/>
              </a:rPr>
              <a:t>Roll: 2107107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5912" y="6372225"/>
            <a:ext cx="761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376228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Orbitron"/>
                <a:rFonts ascii="Orbitron" hAnsi="Orbitron" eastAsia="Orbitron" cs="Orbitron"/>
              </a:rPr>
              <a:t>Project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0990" y="1352549"/>
            <a:ext cx="5333866" cy="495299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00639" y="1892968"/>
            <a:ext cx="457188" cy="3669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8323" y="1847849"/>
            <a:ext cx="320031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Three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323" y="2305049"/>
            <a:ext cx="320031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Different approaches to Atari Go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00639" y="2968792"/>
            <a:ext cx="457188" cy="3489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8323" y="2914650"/>
            <a:ext cx="226689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Game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323" y="3371850"/>
            <a:ext cx="226689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Atari Go capture rules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00639" y="3996489"/>
            <a:ext cx="457188" cy="4271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8323" y="3981449"/>
            <a:ext cx="380037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Performance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323" y="4438649"/>
            <a:ext cx="380037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Minimax vs Monte Carlo vs Neural Net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00639" y="5156534"/>
            <a:ext cx="457188" cy="2406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8323" y="5048250"/>
            <a:ext cx="3524161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Competitive 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323" y="5505450"/>
            <a:ext cx="352416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Agents compete against each other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7813" y="6372225"/>
            <a:ext cx="1142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307649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Orbitron"/>
                <a:rFonts ascii="Orbitron" hAnsi="Orbitron" eastAsia="Orbitron" cs="Orbitron"/>
              </a:rPr>
              <a:t>Atari Go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447800"/>
            <a:ext cx="6400639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315017" y="1883944"/>
            <a:ext cx="457188" cy="385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62700" y="1847849"/>
            <a:ext cx="264788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Place on Intersections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700" y="2305049"/>
            <a:ext cx="264788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Stones on empty points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315017" y="3004886"/>
            <a:ext cx="457188" cy="2767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62700" y="2914650"/>
            <a:ext cx="206687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Alternate 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700" y="3371850"/>
            <a:ext cx="206687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Black and White play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315017" y="4035592"/>
            <a:ext cx="457188" cy="3489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62700" y="3981449"/>
            <a:ext cx="220021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Liberties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2700" y="4438649"/>
            <a:ext cx="220021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Empty adjacent points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315017" y="5171573"/>
            <a:ext cx="457188" cy="210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62700" y="5048250"/>
            <a:ext cx="224784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Connected 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2700" y="5505450"/>
            <a:ext cx="224784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Stones share liberties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7813" y="6372225"/>
            <a:ext cx="1142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400039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Orbitron"/>
                <a:rFonts ascii="Orbitron" hAnsi="Orbitron" eastAsia="Orbitron" cs="Orbitron"/>
              </a:rPr>
              <a:t>Winning Conditions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447800"/>
            <a:ext cx="6400639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315017" y="1730542"/>
            <a:ext cx="457188" cy="348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62700" y="1676400"/>
            <a:ext cx="270503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First to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700" y="2152650"/>
            <a:ext cx="270503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Win by capturing any stone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315017" y="2911642"/>
            <a:ext cx="457188" cy="3489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62700" y="2857500"/>
            <a:ext cx="2362140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Immediate Victory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700" y="3333749"/>
            <a:ext cx="236214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Games end rapidly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315017" y="4073692"/>
            <a:ext cx="457188" cy="3489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62700" y="4019549"/>
            <a:ext cx="2571685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Focus on Combat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2700" y="4495799"/>
            <a:ext cx="257168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Aggressive play rewarded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315017" y="5236744"/>
            <a:ext cx="457188" cy="3850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62700" y="5200650"/>
            <a:ext cx="207639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No Territory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2700" y="5676900"/>
            <a:ext cx="207639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Territory not relevant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58288" y="6372225"/>
            <a:ext cx="12382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281932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Orbitron"/>
                <a:rFonts ascii="Orbitron" hAnsi="Orbitron" eastAsia="Orbitron" cs="Orbitron"/>
              </a:rPr>
              <a:t>Agent: Ankon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447800"/>
            <a:ext cx="6400639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315017" y="1730542"/>
            <a:ext cx="457188" cy="348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62700" y="1676400"/>
            <a:ext cx="180017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Minimax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700" y="2152650"/>
            <a:ext cx="180017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Explore game tree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315017" y="2911642"/>
            <a:ext cx="457188" cy="3489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62700" y="2857500"/>
            <a:ext cx="283837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Monte Carlo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700" y="3333749"/>
            <a:ext cx="283837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Random sampling evaluation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315017" y="4082715"/>
            <a:ext cx="457188" cy="3308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62700" y="4019549"/>
            <a:ext cx="220021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Hybrid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2700" y="4495799"/>
            <a:ext cx="220021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Combines strengths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315017" y="5308934"/>
            <a:ext cx="457188" cy="2406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62700" y="5200650"/>
            <a:ext cx="2428814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Deep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2700" y="5676900"/>
            <a:ext cx="242881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Optimal decision making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7813" y="6372225"/>
            <a:ext cx="1142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225736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Orbitron"/>
                <a:rFonts ascii="Orbitron" hAnsi="Orbitron" eastAsia="Orbitron" cs="Orbitron"/>
              </a:rPr>
              <a:t>Agent: Albi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447800"/>
            <a:ext cx="6400639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315017" y="1730542"/>
            <a:ext cx="457188" cy="348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62700" y="1676400"/>
            <a:ext cx="1990675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Monte Carlo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700" y="2152650"/>
            <a:ext cx="199067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Random simulations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315017" y="2911642"/>
            <a:ext cx="457188" cy="3489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62700" y="2857500"/>
            <a:ext cx="160015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Minimax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700" y="3333749"/>
            <a:ext cx="160015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Tree exploration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315017" y="4109786"/>
            <a:ext cx="457188" cy="2767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62700" y="4019549"/>
            <a:ext cx="245738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Different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2700" y="4495799"/>
            <a:ext cx="245738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MC + Minimax sequence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315017" y="5271335"/>
            <a:ext cx="457188" cy="3158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62700" y="5200650"/>
            <a:ext cx="253358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Adaptive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2700" y="5676900"/>
            <a:ext cx="253358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Dynamic decision making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7813" y="6372225"/>
            <a:ext cx="1142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484810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Orbitron"/>
                <a:rFonts ascii="Orbitron" hAnsi="Orbitron" eastAsia="Orbitron" cs="Orbitron"/>
              </a:rPr>
              <a:t>Agent: Neural Network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447800"/>
            <a:ext cx="6400639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315017" y="1730542"/>
            <a:ext cx="457188" cy="3489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62700" y="1676400"/>
            <a:ext cx="2362140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700" y="2152650"/>
            <a:ext cx="236214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Learns from experience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315017" y="2899610"/>
            <a:ext cx="457188" cy="3729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62700" y="2857500"/>
            <a:ext cx="2362140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No Search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700" y="3333749"/>
            <a:ext cx="236214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Pattern recognition only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315017" y="4055644"/>
            <a:ext cx="457188" cy="3850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62700" y="4019549"/>
            <a:ext cx="2447863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Convolutional CNN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2700" y="4495799"/>
            <a:ext cx="244786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Trained on Go games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315017" y="5215689"/>
            <a:ext cx="457188" cy="4271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62700" y="5200650"/>
            <a:ext cx="1895427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Value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2700" y="5676900"/>
            <a:ext cx="189542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Position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7813" y="6372225"/>
            <a:ext cx="1142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390515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Orbitron"/>
                <a:rFonts ascii="Orbitron" hAnsi="Orbitron" eastAsia="Orbitron" cs="Orbitron"/>
              </a:rPr>
              <a:t>Agent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0990" y="1352549"/>
            <a:ext cx="4114697" cy="495299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05272" y="190499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219569" y="2050732"/>
            <a:ext cx="228594" cy="1657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4857" y="1904999"/>
            <a:ext cx="601964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Ankon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4857" y="2286000"/>
            <a:ext cx="601964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Minimax + Monte Carlo • Explicit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5272" y="28384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219569" y="2984182"/>
            <a:ext cx="228594" cy="1657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4857" y="2838450"/>
            <a:ext cx="601964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Albi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4857" y="3219449"/>
            <a:ext cx="601964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Monte Carlo + Minimax • Different sequence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5272" y="37719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219569" y="3911917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4857" y="3771900"/>
            <a:ext cx="601964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Neural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4857" y="4152899"/>
            <a:ext cx="601964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Deep Learning • Pattern recognition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5272" y="4705350"/>
            <a:ext cx="6629234" cy="1057275"/>
          </a:xfrm>
          <a:prstGeom prst="roundRect">
            <a:avLst>
              <a:gd name="adj" fmla="val 14414"/>
            </a:avLst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295767" y="4950667"/>
            <a:ext cx="285742" cy="23326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95807" y="4895849"/>
            <a:ext cx="379085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Trade-offs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5807" y="5286375"/>
            <a:ext cx="379085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Search depth vs Learning vs Randomness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67813" y="6372225"/>
            <a:ext cx="1142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641016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F2937"/>
                </a:solidFill>
                <a:latin typeface="Orbitron"/>
                <a:rFonts ascii="Orbitron" hAnsi="Orbitron" eastAsia="Orbitron" cs="Orbitron"/>
              </a:rPr>
              <a:t>Experimental Setup &amp;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0990" y="1352549"/>
            <a:ext cx="4114697" cy="495299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105272" y="1569982"/>
            <a:ext cx="342891" cy="2128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00559" y="1485900"/>
            <a:ext cx="3343191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Agent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559" y="1943100"/>
            <a:ext cx="334319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All agents play against each other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105272" y="2610178"/>
            <a:ext cx="342891" cy="2660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00559" y="2552700"/>
            <a:ext cx="4324241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Win Rate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559" y="3009900"/>
            <a:ext cx="432424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Performance measured by capture success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5272" y="3619499"/>
            <a:ext cx="6629234" cy="1485900"/>
          </a:xfrm>
          <a:prstGeom prst="roundRect">
            <a:avLst>
              <a:gd name="adj" fmla="val 10256"/>
            </a:avLst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295767" y="3891059"/>
            <a:ext cx="285742" cy="1807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95807" y="3809999"/>
            <a:ext cx="212402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 vs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52956" y="4267199"/>
            <a:ext cx="579105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E7490"/>
                </a:solidFill>
                <a:latin typeface="Inter"/>
                <a:rFonts ascii="Inter" hAnsi="Inter" eastAsia="Inter" cs="Inter"/>
              </a:rPr>
              <a:t>Ankon/Albi:</a:t>
            </a:r>
            <a:r>
              <a:rPr sz="119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Explicit tree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2956" y="4629150"/>
            <a:ext cx="579105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1">
                <a:solidFill>
                  <a:srgbClr val="0E7490"/>
                </a:solidFill>
                <a:latin typeface="Inter"/>
                <a:rFonts ascii="Inter" hAnsi="Inter" eastAsia="Inter" cs="Inter"/>
              </a:rPr>
              <a:t>Neural Net:</a:t>
            </a:r>
            <a:r>
              <a:rPr sz="119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Learned patterns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105272" y="5473590"/>
            <a:ext cx="342891" cy="25421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00559" y="5410199"/>
            <a:ext cx="361940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Key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0559" y="5867399"/>
            <a:ext cx="361940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Each approach has unique strengths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67813" y="6372225"/>
            <a:ext cx="1142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E27">
                  <a:alpha val="92000"/>
                </a:srgbClr>
              </a:gs>
              <a:gs pos="100000">
                <a:srgbClr val="1E293B">
                  <a:alpha val="88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14857" y="1518776"/>
            <a:ext cx="761980" cy="639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86122" y="2733674"/>
            <a:ext cx="4019449" cy="10287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7020"/>
              </a:lnSpc>
              <a:spcBef>
                <a:spcPts val="0"/>
              </a:spcBef>
              <a:spcAft>
                <a:spcPts val="1560"/>
              </a:spcAft>
            </a:pPr>
            <a:r>
              <a:rPr sz="4305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8" y="3990974"/>
            <a:ext cx="243833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2D3EE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48043" y="4410074"/>
            <a:ext cx="3695607" cy="990599"/>
          </a:xfrm>
          <a:prstGeom prst="roundRect">
            <a:avLst>
              <a:gd name="adj" fmla="val 30769"/>
            </a:avLst>
          </a:prstGeom>
          <a:solidFill>
            <a:srgbClr val="FFFFFF">
              <a:alpha val="10000"/>
            </a:srgbClr>
          </a:solidFill>
          <a:ln w="1651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48083" y="4760529"/>
            <a:ext cx="342891" cy="2896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43371" y="4619625"/>
            <a:ext cx="24002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Orbitron"/>
                <a:rFonts ascii="Orbitron" hAnsi="Orbitron" eastAsia="Orbitron" cs="Orbitron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2090" y="6372225"/>
            <a:ext cx="2000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